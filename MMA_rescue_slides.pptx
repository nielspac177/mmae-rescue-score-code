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57400"/>
            <a:ext cx="12188952" cy="45720"/>
          </a:xfrm>
          <a:prstGeom prst="rect">
            <a:avLst/>
          </a:prstGeom>
          <a:solidFill>
            <a:srgbClr val="DF8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88952" cy="45720"/>
          </a:xfrm>
          <a:prstGeom prst="rect">
            <a:avLst/>
          </a:prstGeom>
          <a:solidFill>
            <a:srgbClr val="DF8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"/>
              </a:rPr>
              <a:t>A 7-point bedside score for rescue surgery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DF8F44"/>
                </a:solidFill>
                <a:latin typeface="Helvetica"/>
              </a:rPr>
              <a:t>after middle meningeal artery embolization for cSDH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"/>
              </a:rPr>
              <a:t>Single-center derivation and internal validation, n = 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"/>
              </a:rPr>
              <a:t>Pacheco-Barrios N, Gonzales-Salidos J, et 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8F44"/>
                </a:solidFill>
                <a:latin typeface="Helvetica"/>
              </a:rPr>
              <a:t>Department of Neurosurgery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8F44"/>
                </a:solidFill>
                <a:latin typeface="DejaVu Sans Mono"/>
              </a:rPr>
              <a:t>nielspac177.github.io/mmae-rescue-score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374E55"/>
                </a:solidFill>
                <a:latin typeface="Helvetica"/>
              </a:rPr>
              <a:t>Three randomized trials in 2024–2025 cemented MMA embolization as standard adjunct for cSDH.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Helvetica"/>
              </a:rPr>
              <a:t>• EMBOLISE (N=400): 4.1% vs 11.3% reoperation at 90 days (Kan 2024)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Helvetica"/>
              </a:rPr>
              <a:t>• MAGIC-MT (N=722): same direction of effect (Tian 2024)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Helvetica"/>
              </a:rPr>
              <a:t>• EMPROTECT (N=342): significant 6-month recurrence reduction (Kerleroux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B24745"/>
                </a:solidFill>
                <a:latin typeface="Helvetica"/>
              </a:rPr>
              <a:t>But 5–20% of embolized patients still need rescue surgery.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Helvetica"/>
              </a:rPr>
              <a:t>• No bedside-usable, externally validated score exists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Helvetica"/>
              </a:rPr>
              <a:t>• Existing cSDH grades (Markwalder, Stanišić) predict recurrence after burr-hole, not after embolization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Helvetica"/>
              </a:rPr>
              <a:t>• Decision-relevant question: who needs tighter post-procedure surveillance?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Helvetica"/>
              </a:rPr>
              <a:t>MMA Embolization Rescue Score  ·  Pacheco et al.,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65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elvetica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Methods — two-tier prediction-model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669280" cy="4572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74E55"/>
                </a:solidFill>
                <a:latin typeface="Helvetica"/>
              </a:rPr>
              <a:t>Cohort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214 consecutive adults, MMA embolization for cSDH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36 rescue events (16.8%); single center, retrospective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TRIPOD-AI compliant; IRB approved with consent waiver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00400"/>
            <a:ext cx="5669280" cy="4572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74E55"/>
                </a:solidFill>
                <a:latin typeface="Helvetica"/>
              </a:rPr>
              <a:t>Primary models — knowledge-driven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70332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Model 1 (max 7): age, SDH ≥100 mL, anticoag, plt &lt;150, antiplatelet, ant+post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Model 2 (max 4): age, SDH ≥100 mL, anticoag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Capped at EPV-5 (≤7 predictors per Peduzzi 1996)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914400"/>
            <a:ext cx="5486400" cy="45720"/>
          </a:xfrm>
          <a:prstGeom prst="rect">
            <a:avLst/>
          </a:prstGeom>
          <a:solidFill>
            <a:srgbClr val="B98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98538"/>
                </a:solidFill>
                <a:latin typeface="Helvetica"/>
              </a:rPr>
              <a:t>Sensitivity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Model 3 — co-author derivation (age &gt;85, plt, antiplatelet)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Model 4 — lasso, EPV-5 cap, 3 imbalance modes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Model 5 — splines + interactions + tuned EN + stacking + Bayesian + MICE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Focal-deficit-included variants of M1–M3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200400"/>
            <a:ext cx="5486400" cy="45720"/>
          </a:xfrm>
          <a:prstGeom prst="rect">
            <a:avLst/>
          </a:prstGeom>
          <a:solidFill>
            <a:srgbClr val="B98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98538"/>
                </a:solidFill>
                <a:latin typeface="Helvetica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03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Apparent + Harrell optimism-corrected AUC (1000 bootstrap)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Hosmer–Lemeshow calibration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Decision curve analysis (Vickers net-benefit)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5×10 stratified CV for ML/data-driven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Helvetica"/>
              </a:rPr>
              <a:t>MMA Embolization Rescue Score  ·  Pacheco et al.,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65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elvetica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Cohort characteristics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005840"/>
            <a:ext cx="5943600" cy="411480"/>
          </a:xfrm>
          <a:prstGeom prst="rect">
            <a:avLst/>
          </a:prstGeom>
          <a:solidFill>
            <a:srgbClr val="374E55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106070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"/>
              </a:rPr>
              <a:t>Variable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200400" cy="411480"/>
          </a:xfrm>
          <a:prstGeom prst="rect">
            <a:avLst/>
          </a:prstGeom>
          <a:solidFill>
            <a:srgbClr val="374E55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06070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"/>
              </a:rPr>
              <a:t>Cohort (n=214)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417320"/>
            <a:ext cx="5943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47218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Age, mean (SD), years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41732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47218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73.4 (13.1)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828800"/>
            <a:ext cx="5943600" cy="411480"/>
          </a:xfrm>
          <a:prstGeom prst="rect">
            <a:avLst/>
          </a:prstGeom>
          <a:solidFill>
            <a:srgbClr val="F5F2EA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188366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Age &gt;80 years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828800"/>
            <a:ext cx="3200400" cy="411480"/>
          </a:xfrm>
          <a:prstGeom prst="rect">
            <a:avLst/>
          </a:prstGeom>
          <a:solidFill>
            <a:srgbClr val="F5F2EA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88366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31.8%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240280"/>
            <a:ext cx="5943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229514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Anticoagulation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24028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229514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25.7%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651760"/>
            <a:ext cx="5943600" cy="411480"/>
          </a:xfrm>
          <a:prstGeom prst="rect">
            <a:avLst/>
          </a:prstGeom>
          <a:solidFill>
            <a:srgbClr val="F5F2EA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270662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Antiplatelet therapy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651760"/>
            <a:ext cx="3200400" cy="411480"/>
          </a:xfrm>
          <a:prstGeom prst="rect">
            <a:avLst/>
          </a:prstGeom>
          <a:solidFill>
            <a:srgbClr val="F5F2EA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70662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36.4%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3063240"/>
            <a:ext cx="5943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311810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SDH volume ≥100 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306324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311810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29.0%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3474720"/>
            <a:ext cx="5943600" cy="411480"/>
          </a:xfrm>
          <a:prstGeom prst="rect">
            <a:avLst/>
          </a:prstGeom>
          <a:solidFill>
            <a:srgbClr val="F5F2EA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352958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Platelets &lt;150 ×10⁹/L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3474720"/>
            <a:ext cx="3200400" cy="411480"/>
          </a:xfrm>
          <a:prstGeom prst="rect">
            <a:avLst/>
          </a:prstGeom>
          <a:solidFill>
            <a:srgbClr val="F5F2EA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352958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20.6%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3886200"/>
            <a:ext cx="5943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394106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Anterior + posterior embolization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88620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394106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53.7%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4297680"/>
            <a:ext cx="5943600" cy="411480"/>
          </a:xfrm>
          <a:prstGeom prst="rect">
            <a:avLst/>
          </a:prstGeom>
          <a:solidFill>
            <a:srgbClr val="F5F2EA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65960" y="435254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Focal deficit at presentation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4297680"/>
            <a:ext cx="3200400" cy="411480"/>
          </a:xfrm>
          <a:prstGeom prst="rect">
            <a:avLst/>
          </a:prstGeom>
          <a:solidFill>
            <a:srgbClr val="F5F2EA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435254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Helvetica"/>
              </a:rPr>
              <a:t>59.8%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4709160"/>
            <a:ext cx="5943600" cy="411480"/>
          </a:xfrm>
          <a:prstGeom prst="rect">
            <a:avLst/>
          </a:prstGeom>
          <a:solidFill>
            <a:srgbClr val="EFE9DB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476402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74E55"/>
                </a:solidFill>
                <a:latin typeface="Helvetica"/>
              </a:rPr>
              <a:t>Rescue surgery (primary outcome)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4709160"/>
            <a:ext cx="3200400" cy="411480"/>
          </a:xfrm>
          <a:prstGeom prst="rect">
            <a:avLst/>
          </a:prstGeom>
          <a:solidFill>
            <a:srgbClr val="EFE9DB"/>
          </a:solidFill>
          <a:ln w="6350">
            <a:solidFill>
              <a:srgbClr val="8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476402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74E55"/>
                </a:solidFill>
                <a:latin typeface="Helvetica"/>
              </a:rPr>
              <a:t>36 (16.8%)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Helvetica"/>
              </a:rPr>
              <a:t>MMA Embolization Rescue Score  ·  Pacheco et al.,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565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elvetica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Primary result — Model 1 (knowledge-driven, 7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74E55"/>
                </a:solidFill>
                <a:latin typeface="Helvetica"/>
              </a:rPr>
              <a:t>AUC 0.706  (Harrell optimism-corrected 0.704)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0796B"/>
                </a:solidFill>
                <a:latin typeface="Helvetica"/>
              </a:rPr>
              <a:t>Hosmer–Lemeshow P &gt; 0.5  ·  Brier 0.13  ·  TRIPOD-AI compliant</a:t>
            </a:r>
          </a:p>
        </p:txBody>
      </p:sp>
      <p:pic>
        <p:nvPicPr>
          <p:cNvPr id="6" name="Picture 5" descr="fig1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359143" cy="4206240"/>
          </a:xfrm>
          <a:prstGeom prst="rect">
            <a:avLst/>
          </a:prstGeom>
        </p:spPr>
      </p:pic>
      <p:pic>
        <p:nvPicPr>
          <p:cNvPr id="7" name="Picture 6" descr="fig2_score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377440"/>
            <a:ext cx="6858000" cy="24354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59893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0796B"/>
                </a:solidFill>
                <a:latin typeface="Helvetica"/>
              </a:rPr>
              <a:t>Stepwise rise in observed rescue rate across the 0–6 score 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Helvetica"/>
              </a:rPr>
              <a:t>MMA Embolization Rescue Score  ·  Pacheco et al.,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65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elvetica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A single bedside cutoff: score ≥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79AF97"/>
                </a:solidFill>
                <a:latin typeface="Helvetica"/>
              </a:rPr>
              <a:t>Low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0796B"/>
                </a:solidFill>
                <a:latin typeface="Helvetica"/>
              </a:rPr>
              <a:t>Score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79AF97"/>
                </a:solidFill>
                <a:latin typeface="Helvetica"/>
              </a:rPr>
              <a:t>8.6%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0796B"/>
                </a:solidFill>
                <a:latin typeface="Helvetica"/>
              </a:rPr>
              <a:t>13 of 151 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0972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B24745"/>
                </a:solidFill>
                <a:latin typeface="Helvetica"/>
              </a:rPr>
              <a:t>High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508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0796B"/>
                </a:solidFill>
                <a:latin typeface="Helvetica"/>
              </a:rPr>
              <a:t>Score ≥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96596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B24745"/>
                </a:solidFill>
                <a:latin typeface="Helvetica"/>
              </a:rPr>
              <a:t>36.5%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017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0796B"/>
                </a:solidFill>
                <a:latin typeface="Helvetica"/>
              </a:rPr>
              <a:t>23 of 63 patients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194560"/>
            <a:ext cx="1417320" cy="86868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24028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DF8F44"/>
                </a:solidFill>
                <a:latin typeface="Helvetica"/>
              </a:rPr>
              <a:t>4.2×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1089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E55"/>
                </a:solidFill>
                <a:latin typeface="Helvetica"/>
              </a:rPr>
              <a:t>rescue gradient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74E55"/>
                </a:solidFill>
                <a:latin typeface="Helvetica"/>
              </a:rPr>
              <a:t>Operating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Sensitivity 64% (95% CI 48–78)  ·  Specificity 78% (71–83)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Positive predictive value 37%  ·  Negative predictive value 91%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Decision-curve analysis: positive net benefit across 10–40% threshold range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Bedside use: PDF score card and browser calculator (no PHI leaves device)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Helvetica"/>
              </a:rPr>
              <a:t>MMA Embolization Rescue Score  ·  Pacheco et al.,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65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elvetica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Calibration and decision-curve analysis</a:t>
            </a:r>
          </a:p>
        </p:txBody>
      </p:sp>
      <p:pic>
        <p:nvPicPr>
          <p:cNvPr id="4" name="Picture 3" descr="fig3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172012" cy="5120640"/>
          </a:xfrm>
          <a:prstGeom prst="rect">
            <a:avLst/>
          </a:prstGeom>
        </p:spPr>
      </p:pic>
      <p:pic>
        <p:nvPicPr>
          <p:cNvPr id="5" name="Picture 4" descr="fig10_d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6092716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807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0796B"/>
                </a:solidFill>
                <a:latin typeface="Helvetica"/>
              </a:rPr>
              <a:t>Predicted-vs-observed across deciles  ·  HL P &gt; 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0807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0796B"/>
                </a:solidFill>
                <a:latin typeface="Helvetica"/>
              </a:rPr>
              <a:t>Net benefit &gt; treat-all and treat-none across 10–40% threshold range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Helvetica"/>
              </a:rPr>
              <a:t>MMA Embolization Rescue Score  ·  Pacheco et al.,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65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elvetica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Sensitivity analyses — discrimination preserved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74E55"/>
                </a:solidFill>
                <a:latin typeface="Helvetica"/>
              </a:rPr>
              <a:t>AUCs across all five model families overlap the Model 1 95% CI</a:t>
            </a:r>
          </a:p>
        </p:txBody>
      </p:sp>
      <p:pic>
        <p:nvPicPr>
          <p:cNvPr id="5" name="Picture 4" descr="fig8_ml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858000" cy="36323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463040"/>
            <a:ext cx="4251960" cy="45720"/>
          </a:xfrm>
          <a:prstGeom prst="rect">
            <a:avLst/>
          </a:prstGeom>
          <a:solidFill>
            <a:srgbClr val="B98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55448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98538"/>
                </a:solidFill>
                <a:latin typeface="Helvetica"/>
              </a:rPr>
              <a:t>Sensitivity AUC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011680"/>
            <a:ext cx="4251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Helvetica"/>
              </a:rPr>
              <a:t>• Model 2 (simple, 4 pts)  AUC 0.64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Helvetica"/>
              </a:rPr>
              <a:t>• Model 3 (co-author, 5 pts)  AUC 0.70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Helvetica"/>
              </a:rPr>
              <a:t>• Model 4 (lasso, 5 pts)  CV-AUC 0.66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Helvetica"/>
              </a:rPr>
              <a:t>• Model 5 (Bayesian + priors)  CV-AUC 0.67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Helvetica"/>
              </a:rPr>
              <a:t>• Composite enhanced bundle  CV-AUC 0.63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Helvetica"/>
              </a:rPr>
              <a:t>• Random forest / GBM / XGB  CV-AUC 0.57–0.58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374E55"/>
                </a:solidFill>
                <a:latin typeface="Helvetica"/>
              </a:rPr>
              <a:t>36 events bound the AUC ceiling — flexibility costs more than it gains.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Helvetica"/>
              </a:rPr>
              <a:t>MMA Embolization Rescue Score  ·  Pacheco et al.,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65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elvetica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Limitations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374E55"/>
                </a:solidFill>
                <a:latin typeface="Helvetica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Single-center retrospective design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36 events — wide CIs on individual coefficients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Rescue ascertained at last follow-up, not fixed time point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15% of SDH volumes imputed (sensitivity supports primary)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Embolic agent and access route captured but not in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B98538"/>
                </a:solidFill>
                <a:latin typeface="Helvetica"/>
              </a:rPr>
              <a:t>Validation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258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Pre-registration of external-validation analysis plan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Pooled validation across active MMA registries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Embed scoring within next-generation RCTs (EMBOLISE+, EMPROTECT-2)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Update calibration with hierarchical Bayesian recalibration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Helvetica"/>
              </a:rPr>
              <a:t>• Add prospective surveillance time-to-rescue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Helvetica"/>
              </a:rPr>
              <a:t>MMA Embolization Rescue Score  ·  Pacheco et al.,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65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elvetica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7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12188952" cy="45720"/>
          </a:xfrm>
          <a:prstGeom prst="rect">
            <a:avLst/>
          </a:prstGeom>
          <a:solidFill>
            <a:srgbClr val="DF8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DF8F44"/>
                </a:solidFill>
                <a:latin typeface="Helvetica"/>
              </a:rPr>
              <a:t>Take-home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"/>
              </a:rPr>
              <a:t>A 7-point pre-procedural score, derived from six routinely available variables, discriminates rescue surgery after MMA embolization for cSDH with AUC 0.70 and stratifies the cohort into a 4.2-fold rescue-rate gradient at a single cutoff.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611880" cy="2377440"/>
          </a:xfrm>
          <a:prstGeom prst="rect">
            <a:avLst/>
          </a:prstGeom>
          <a:solidFill>
            <a:srgbClr val="2A3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3611880" cy="54864"/>
          </a:xfrm>
          <a:prstGeom prst="rect">
            <a:avLst/>
          </a:prstGeom>
          <a:solidFill>
            <a:srgbClr val="79A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79AF97"/>
                </a:solidFill>
                <a:latin typeface="Helvetica"/>
              </a:rPr>
              <a:t>Clinical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"/>
              </a:rPr>
              <a:t>Pre-procedural triage of post-embolization surveillance intensity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377440"/>
            <a:ext cx="3611880" cy="2377440"/>
          </a:xfrm>
          <a:prstGeom prst="rect">
            <a:avLst/>
          </a:prstGeom>
          <a:solidFill>
            <a:srgbClr val="2A3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377440"/>
            <a:ext cx="3611880" cy="54864"/>
          </a:xfrm>
          <a:prstGeom prst="rect">
            <a:avLst/>
          </a:prstGeom>
          <a:solidFill>
            <a:srgbClr val="DF8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6060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F8F44"/>
                </a:solidFill>
                <a:latin typeface="Helvetica"/>
              </a:rP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089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"/>
              </a:rPr>
              <a:t>Knowledge-driven primary, lasso + Bayesian + ML as sensitivity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377440"/>
            <a:ext cx="3611880" cy="2377440"/>
          </a:xfrm>
          <a:prstGeom prst="rect">
            <a:avLst/>
          </a:prstGeom>
          <a:solidFill>
            <a:srgbClr val="2A3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2377440"/>
            <a:ext cx="3611880" cy="54864"/>
          </a:xfrm>
          <a:prstGeom prst="rect">
            <a:avLst/>
          </a:prstGeom>
          <a:solidFill>
            <a:srgbClr val="6A6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6060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A6599"/>
                </a:solidFill>
                <a:latin typeface="Helvetica"/>
              </a:rPr>
              <a:t>Open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1089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"/>
              </a:rPr>
              <a:t>Code, calculator, bedside card, and supplementary tables freely available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83480"/>
            <a:ext cx="10972800" cy="914400"/>
          </a:xfrm>
          <a:prstGeom prst="rect">
            <a:avLst/>
          </a:prstGeom>
          <a:solidFill>
            <a:srgbClr val="2A3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8F44"/>
                </a:solidFill>
                <a:latin typeface="Helvetica"/>
              </a:rPr>
              <a:t>Live calculator + printable bedside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DejaVu Sans Mono"/>
              </a:rPr>
              <a:t>nielspac177.github.io/mmae-rescue-score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DF8F44"/>
                </a:solidFill>
                <a:latin typeface="Helvetica"/>
              </a:rPr>
              <a:t>Pacheco-Barrios N, Gonzales-Salidos J, et al.  ·  TRIPOD-AI compliant  ·  Pending external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